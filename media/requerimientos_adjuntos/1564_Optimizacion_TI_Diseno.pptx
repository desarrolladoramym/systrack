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ESTRATÉGICO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TI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58368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inteligente de activos y requerimientos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una base de información confiable, mejorar la trazabilidad de los activos y modernizar la gestión del servicio para decisiones basadas en datos.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1E4463"/>
          </a:solidFill>
          <a:ln w="12700">
            <a:solidFill>
              <a:srgbClr val="2E5A8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486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52578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34640" y="525780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1E4463"/>
          </a:solidFill>
          <a:ln w="12700">
            <a:solidFill>
              <a:srgbClr val="2E5A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54864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52578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0" y="525780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1E4463"/>
          </a:solidFill>
          <a:ln w="12700">
            <a:solidFill>
              <a:srgbClr val="2E5A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5486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0" y="52578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18120" y="1600200"/>
            <a:ext cx="3749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64748B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18120" y="1600200"/>
            <a:ext cx="3749040" cy="457200"/>
          </a:xfrm>
          <a:prstGeom prst="rect">
            <a:avLst/>
          </a:prstGeom>
          <a:solidFill>
            <a:srgbClr val="14304A"/>
          </a:solidFill>
          <a:ln/>
        </p:spPr>
      </p:sp>
      <p:sp>
        <p:nvSpPr>
          <p:cNvPr id="18" name="Shape 13"/>
          <p:cNvSpPr/>
          <p:nvPr/>
        </p:nvSpPr>
        <p:spPr>
          <a:xfrm>
            <a:off x="8001000" y="175564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0" y="1755648"/>
            <a:ext cx="146304" cy="146304"/>
          </a:xfrm>
          <a:prstGeom prst="ellipse">
            <a:avLst/>
          </a:prstGeom>
          <a:solidFill>
            <a:srgbClr val="4A7BA5"/>
          </a:solidFill>
          <a:ln/>
        </p:spPr>
      </p:sp>
      <p:sp>
        <p:nvSpPr>
          <p:cNvPr id="20" name="Shape 15"/>
          <p:cNvSpPr/>
          <p:nvPr/>
        </p:nvSpPr>
        <p:spPr>
          <a:xfrm>
            <a:off x="8458200" y="1755648"/>
            <a:ext cx="146304" cy="146304"/>
          </a:xfrm>
          <a:prstGeom prst="ellipse">
            <a:avLst/>
          </a:prstGeom>
          <a:solidFill>
            <a:srgbClr val="6FA8DC"/>
          </a:solidFill>
          <a:ln/>
        </p:spPr>
      </p:sp>
      <p:sp>
        <p:nvSpPr>
          <p:cNvPr id="21" name="Text 16"/>
          <p:cNvSpPr/>
          <p:nvPr/>
        </p:nvSpPr>
        <p:spPr>
          <a:xfrm>
            <a:off x="87325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Control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138160" y="2834640"/>
            <a:ext cx="256032" cy="822960"/>
          </a:xfrm>
          <a:prstGeom prst="roundRect">
            <a:avLst>
              <a:gd name="adj" fmla="val 10714"/>
            </a:avLst>
          </a:prstGeom>
          <a:solidFill>
            <a:srgbClr val="9DC3E0"/>
          </a:solidFill>
          <a:ln/>
        </p:spPr>
      </p:sp>
      <p:sp>
        <p:nvSpPr>
          <p:cNvPr id="23" name="Shape 18"/>
          <p:cNvSpPr/>
          <p:nvPr/>
        </p:nvSpPr>
        <p:spPr>
          <a:xfrm>
            <a:off x="8522208" y="2468880"/>
            <a:ext cx="256032" cy="1188720"/>
          </a:xfrm>
          <a:prstGeom prst="roundRect">
            <a:avLst>
              <a:gd name="adj" fmla="val 10714"/>
            </a:avLst>
          </a:prstGeom>
          <a:solidFill>
            <a:srgbClr val="9DC3E0"/>
          </a:solidFill>
          <a:ln/>
        </p:spPr>
      </p:sp>
      <p:sp>
        <p:nvSpPr>
          <p:cNvPr id="24" name="Shape 19"/>
          <p:cNvSpPr/>
          <p:nvPr/>
        </p:nvSpPr>
        <p:spPr>
          <a:xfrm>
            <a:off x="8906256" y="3017520"/>
            <a:ext cx="256032" cy="640080"/>
          </a:xfrm>
          <a:prstGeom prst="roundRect">
            <a:avLst>
              <a:gd name="adj" fmla="val 10714"/>
            </a:avLst>
          </a:prstGeom>
          <a:solidFill>
            <a:srgbClr val="9DC3E0"/>
          </a:solidFill>
          <a:ln/>
        </p:spPr>
      </p:sp>
      <p:sp>
        <p:nvSpPr>
          <p:cNvPr id="25" name="Shape 20"/>
          <p:cNvSpPr/>
          <p:nvPr/>
        </p:nvSpPr>
        <p:spPr>
          <a:xfrm>
            <a:off x="9290304" y="2240280"/>
            <a:ext cx="256032" cy="1417320"/>
          </a:xfrm>
          <a:prstGeom prst="roundRect">
            <a:avLst>
              <a:gd name="adj" fmla="val 10714"/>
            </a:avLst>
          </a:prstGeom>
          <a:solidFill>
            <a:srgbClr val="FF6B35"/>
          </a:solidFill>
          <a:ln/>
        </p:spPr>
      </p:sp>
      <p:sp>
        <p:nvSpPr>
          <p:cNvPr id="26" name="Shape 21"/>
          <p:cNvSpPr/>
          <p:nvPr/>
        </p:nvSpPr>
        <p:spPr>
          <a:xfrm>
            <a:off x="9674352" y="2606040"/>
            <a:ext cx="256032" cy="1051560"/>
          </a:xfrm>
          <a:prstGeom prst="roundRect">
            <a:avLst>
              <a:gd name="adj" fmla="val 10714"/>
            </a:avLst>
          </a:prstGeom>
          <a:solidFill>
            <a:srgbClr val="9DC3E0"/>
          </a:solidFill>
          <a:ln/>
        </p:spPr>
      </p:sp>
      <p:sp>
        <p:nvSpPr>
          <p:cNvPr id="27" name="Shape 22"/>
          <p:cNvSpPr/>
          <p:nvPr/>
        </p:nvSpPr>
        <p:spPr>
          <a:xfrm>
            <a:off x="10241280" y="228600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/>
        </p:spPr>
      </p:sp>
      <p:sp>
        <p:nvSpPr>
          <p:cNvPr id="28" name="Text 23"/>
          <p:cNvSpPr/>
          <p:nvPr/>
        </p:nvSpPr>
        <p:spPr>
          <a:xfrm>
            <a:off x="10241280" y="2331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0241280" y="26334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Favorabilidad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10241280" y="297180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/>
        </p:spPr>
      </p:sp>
      <p:sp>
        <p:nvSpPr>
          <p:cNvPr id="31" name="Text 26"/>
          <p:cNvSpPr/>
          <p:nvPr/>
        </p:nvSpPr>
        <p:spPr>
          <a:xfrm>
            <a:off x="10241280" y="30175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10241280" y="33192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control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10972800" y="374904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4882" y="3951122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realidad actual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1893722"/>
            <a:ext cx="373075" cy="3730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17099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inconsistente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95528" y="2606040"/>
            <a:ext cx="47823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histórico del inventario fue alimentado durante años bajo distintos criterios operativos, dificultando la consolidación y visualización de los activos.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309360" y="14173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583680" y="1691640"/>
            <a:ext cx="777240" cy="77724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762" y="1893722"/>
            <a:ext cx="373075" cy="3730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3800" y="17099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poco intuitivo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01968" y="2606040"/>
            <a:ext cx="47823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experiencia de recepción y seguimiento genera confusiones en la clasificación y calificación de las solicitudes.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02920" y="38862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77240" y="4160520"/>
            <a:ext cx="777240" cy="77724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" y="4362602"/>
            <a:ext cx="373075" cy="3730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37360" y="417880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no confiables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795528" y="5074920"/>
            <a:ext cx="47823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encuestas semestrales se ven influenciadas por eventos recientes y no reflejan el desempeño integral del proceso.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309360" y="38862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83680" y="416052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5762" y="4362602"/>
            <a:ext cx="373075" cy="3730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543800" y="417880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participación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601968" y="5074920"/>
            <a:ext cx="4782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100% de los requerimientos quedaron sin calificar. Los evaluados muestran 98% de favorabilidad frente a un 3.7/5 en las encuestas generales.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visión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371600"/>
            <a:ext cx="11201400" cy="1600200"/>
          </a:xfrm>
          <a:prstGeom prst="roundRect">
            <a:avLst>
              <a:gd name="adj" fmla="val 6857"/>
            </a:avLst>
          </a:prstGeom>
          <a:solidFill>
            <a:srgbClr val="14304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2040941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83080" y="1463040"/>
            <a:ext cx="9601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"Conocer nuestros activos y medir adecuadamente nuestros servicios es el primer paso para optimizar recursos, reducir costos y generar valor para la organización."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02920" y="33375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801368" y="365760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9112" y="3895344"/>
            <a:ext cx="438912" cy="4389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822960" y="49377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y visibilidad real de los activos tecnológicos, propios y en alquiler.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97680" y="33375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596128" y="365760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389534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8056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efectiva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617720" y="49377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confiables y continuos que capturan la experiencia integral del usuario.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092440" y="33375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9390888" y="365760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8632" y="389534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7532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8412480" y="493776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uso de recursos, reducción de tiempos y decisiones respaldadas por datos.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estratégico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14304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68680" y="1783080"/>
            <a:ext cx="1005840" cy="10058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" y="2044598"/>
            <a:ext cx="482803" cy="482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5740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68680" y="3017520"/>
            <a:ext cx="4526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la gestión de activos tecnológicos y requerimientos de TI mediante un modelo que garantice trazabilidad, medición efectiva del servicio, optimización de tiempos y toma de decisiones basada en datos confiables.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5989320" y="1463040"/>
            <a:ext cx="5715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217920" y="166420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831" y="1821119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0" y="146304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 de activos y requerimientos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989320" y="2651760"/>
            <a:ext cx="5715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217920" y="285292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831" y="3009839"/>
            <a:ext cx="289682" cy="28968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40880" y="26517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efectiva del servicio con datos confiables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989320" y="3840480"/>
            <a:ext cx="5715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217920" y="404164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831" y="4198559"/>
            <a:ext cx="289682" cy="28968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40880" y="384048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tiempos de atención y resolución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5989320" y="5029200"/>
            <a:ext cx="5715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217920" y="523036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831" y="5387279"/>
            <a:ext cx="289682" cy="28968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50292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basadas en información objetiva y actualizada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 implementación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1893722"/>
            <a:ext cx="373075" cy="3730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170992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95528" y="2606040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del área de TI con participación activa de los usuarios finales. Sin incrementar la estructura de personal.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675120" y="1417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949440" y="1691640"/>
            <a:ext cx="777240" cy="77724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22" y="1893722"/>
            <a:ext cx="373075" cy="3730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09560" y="170992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67728" y="2606040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aprovecha la plataforma existente con actualización y parametrización. Sin inversiones significativas en hardware.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02920" y="38862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77240" y="4160520"/>
            <a:ext cx="777240" cy="7772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" y="4362602"/>
            <a:ext cx="373075" cy="3730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37360" y="417880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Financieros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795528" y="5074920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internos enfocados en análisis, configuración, depuración y gestión del cambio, con retorno esperado.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675120" y="38862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949440" y="416052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1522" y="4362602"/>
            <a:ext cx="373075" cy="3730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909560" y="417880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967728" y="5074920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de gestión basada en datos y mejora continua, con jornadas de comunicación y capacitación.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Mediciones e indicadores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851660" y="1673352"/>
            <a:ext cx="914400" cy="91440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404" y="1911096"/>
            <a:ext cx="438912" cy="438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6243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 atención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77240" y="3044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tiempos de resolución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297680" y="1417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646420" y="1673352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1911096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80560" y="26243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72000" y="3044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satisfacción de los usuarios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092440" y="1417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41180" y="1673352"/>
            <a:ext cx="914400" cy="91440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8924" y="1911096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75320" y="26243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366760" y="3044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requerimientos evaluados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02920" y="3794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851660" y="4050792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9404" y="4288536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" y="50017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777240" y="5422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tecnológicos documentados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297680" y="3794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46420" y="4050792"/>
            <a:ext cx="914400" cy="91440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164" y="4288536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80560" y="50017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4572000" y="5422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actualizada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8092440" y="3794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441180" y="4050792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8924" y="4288536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75320" y="50017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8366760" y="5422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operativa del área de TI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56032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398678"/>
            <a:ext cx="263347" cy="263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2560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esperado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31520" y="1673352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1839773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508760" y="19842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y requerimientos con control de punta a punta.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526280" y="1673352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1839773"/>
            <a:ext cx="307238" cy="3072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0352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indicadores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303520" y="19842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niveles de servicio medibles.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092440" y="14173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321040" y="1673352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1839773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9828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9098280" y="19842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en atención y resolución de solicitudes.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02920" y="3017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31520" y="3273552"/>
            <a:ext cx="640080" cy="64008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1" y="3439973"/>
            <a:ext cx="307238" cy="30723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confiables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508760" y="35844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consistente y actualizada.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297680" y="3017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526280" y="3273552"/>
            <a:ext cx="640080" cy="64008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2701" y="3439973"/>
            <a:ext cx="307238" cy="3072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0352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optimizados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303520" y="35844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eficiente de la infraestructura tecnológica.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092440" y="3017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8321040" y="3273552"/>
            <a:ext cx="640080" cy="640080"/>
          </a:xfrm>
          <a:prstGeom prst="ellipse">
            <a:avLst/>
          </a:prstGeom>
          <a:solidFill>
            <a:srgbClr val="1E4463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7461" y="3439973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9828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experiencia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9098280" y="35844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satisfacción y participación del usuario.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502920" y="580644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14304A"/>
          </a:solidFill>
          <a:ln/>
        </p:spPr>
      </p:sp>
      <p:sp>
        <p:nvSpPr>
          <p:cNvPr id="37" name="Text 27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de TI hacia un modelo moderno, centrado en el usuario y orientado a la generación de valor.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2704" y="123444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4721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Transformemos TI juntos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828800" y="34290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con impacto, datos confiables y generación de valor sostenible.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718304" y="4343400"/>
            <a:ext cx="2743200" cy="777240"/>
          </a:xfrm>
          <a:prstGeom prst="roundRect">
            <a:avLst>
              <a:gd name="adj" fmla="val 49412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18304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LISTOS PARA COMENZAR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2026-08-15T02:21:37Z</dcterms:created>
  <dcterms:modified xsi:type="dcterms:W3CDTF">2026-08-15T02:21:37Z</dcterms:modified>
</cp:coreProperties>
</file>